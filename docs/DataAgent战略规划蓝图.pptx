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6909C"/>
                </a:solidFill>
                <a:latin typeface="Microsoft YaHei"/>
              </a:defRPr>
            </a:pPr>
            <a:r>
              <a:t>DATAAGENT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DataAgent 数据智能体平台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320040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Microsoft YaHei"/>
              </a:defRPr>
            </a:pPr>
            <a:r>
              <a:t>战略规划蓝图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2026年4月  |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909C"/>
                </a:solidFill>
                <a:latin typeface="Microsoft YaHei"/>
              </a:defRPr>
            </a:pPr>
            <a:r>
              <a:t>数据领域面临三组结构性矛盾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661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需求增长 vs 供给不足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5969"/>
                </a:solidFill>
                <a:latin typeface="Microsoft YaHei"/>
              </a:defRPr>
            </a:pPr>
            <a:r>
              <a:t>数据需求爆发式增长，但开发高度依赖少数工程师，需求排期积压，平均交付周期3-5天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39" y="164592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39" y="1645920"/>
            <a:ext cx="35661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资产膨胀 vs 治理滞后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468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5969"/>
                </a:solidFill>
                <a:latin typeface="Microsoft YaHei"/>
              </a:defRPr>
            </a:pPr>
            <a:r>
              <a:t>数据资产规模指数级增长，但治理仍靠人工，表结构文档过时、血缘缺失、敏感数据分布不明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8" y="1645920"/>
            <a:ext cx="356616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8" y="1645920"/>
            <a:ext cx="35661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Microsoft YaHei"/>
              </a:defRPr>
            </a:pPr>
            <a:r>
              <a:t>技术进步 vs 体验脱节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688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5969"/>
                </a:solidFill>
                <a:latin typeface="Microsoft YaHei"/>
              </a:defRPr>
            </a:pPr>
            <a:r>
              <a:t>已建成先进Lakehouse架构，但使用门槛高——业务人员必须掌握SQL才能获取数据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5969"/>
                </a:solidFill>
                <a:latin typeface="Microsoft YaHei"/>
              </a:defRPr>
            </a:pPr>
            <a:r>
              <a:t>大语言模型技术的成熟为系统性解决上述矛盾提供了可能。DataAgent以AI为内核，重新定义数据工作范式，将数据能力从"专家垄断"转变为"全员赋能"。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建设目标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909C"/>
                </a:solidFill>
                <a:latin typeface="Microsoft YaHei"/>
              </a:defRPr>
            </a:pPr>
            <a:r>
              <a:t>四大核心目标，可量化、可考核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517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1920240"/>
            <a:ext cx="64008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提升数据开发效率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909C"/>
                </a:solidFill>
                <a:latin typeface="Microsoft YaHei"/>
              </a:defRPr>
            </a:pPr>
            <a:r>
              <a:t>NL2SQL + 智能优化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2103120" cy="1188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3B82F6"/>
                </a:solidFill>
                <a:latin typeface="Microsoft YaHei"/>
              </a:defRPr>
            </a:pPr>
            <a:r>
              <a:t>需求交付周期</a:t>
            </a:r>
            <a:br/>
            <a:r>
              <a:t>天级 → 分钟级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645920"/>
            <a:ext cx="26517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645920"/>
            <a:ext cx="26517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920240"/>
            <a:ext cx="64008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实现数据自助分析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909C"/>
                </a:solidFill>
                <a:latin typeface="Microsoft YaHei"/>
              </a:defRPr>
            </a:pPr>
            <a:r>
              <a:t>对话式分析 + 智能可视化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3840480"/>
            <a:ext cx="2103120" cy="1188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业务自助分析占比</a:t>
            </a:r>
            <a:br/>
            <a:r>
              <a:t>≥ 60%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45920"/>
            <a:ext cx="26517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645920"/>
            <a:ext cx="26517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86600" y="1920240"/>
            <a:ext cx="64008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构建智能治理体系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909C"/>
                </a:solidFill>
                <a:latin typeface="Microsoft YaHei"/>
              </a:defRPr>
            </a:pPr>
            <a:r>
              <a:t>血缘追踪 + 质量守护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840480"/>
            <a:ext cx="2103120" cy="1188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59669"/>
                </a:solidFill>
                <a:latin typeface="Microsoft YaHei"/>
              </a:defRPr>
            </a:pPr>
            <a:r>
              <a:t>核心资产入目入册</a:t>
            </a:r>
            <a:br/>
            <a:r>
              <a:t>100%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645920"/>
            <a:ext cx="265176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645920"/>
            <a:ext cx="26517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21240" y="1920240"/>
            <a:ext cx="640080" cy="457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自动化数据管道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6909C"/>
                </a:solidFill>
                <a:latin typeface="Microsoft YaHei"/>
              </a:defRPr>
            </a:pPr>
            <a:r>
              <a:t>自然语言管道设计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3840480"/>
            <a:ext cx="2103120" cy="11887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D97706"/>
                </a:solidFill>
                <a:latin typeface="Microsoft YaHei"/>
              </a:defRPr>
            </a:pPr>
            <a:r>
              <a:t>管道开发效率</a:t>
            </a:r>
            <a:br/>
            <a:r>
              <a:t>提升 5 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平台总体架构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909C"/>
                </a:solidFill>
                <a:latin typeface="Microsoft YaHei"/>
              </a:defRPr>
            </a:pPr>
            <a:r>
              <a:t>三层分离 · Agent驱动 · 目录贯穿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1828800" cy="7772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应用服务层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463040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智能SQL开发中心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463040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智能分析中心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数据治理中心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管道编排中心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21992"/>
            <a:ext cx="1828800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服务网关层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313432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认证鉴权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313432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请求路由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313432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会话管理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13432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限流熔断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072384"/>
            <a:ext cx="1828800" cy="777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 引擎层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163824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Router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163824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SQL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163824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Analytics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163824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Governance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3163824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Pipeline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922776"/>
            <a:ext cx="1828800" cy="777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基础设施连接层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4014216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Trino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4014216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Spark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014216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Iceberg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14216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Pulsar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4014216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Airflow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773168"/>
            <a:ext cx="1828800" cy="777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数据与知识存储层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4864608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PostgreSQL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4864608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Milvus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864608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Redis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864608"/>
            <a:ext cx="178308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S3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5394960"/>
            <a:ext cx="8686800" cy="502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40AF"/>
                </a:solidFill>
                <a:latin typeface="Microsoft YaHei"/>
              </a:defRPr>
            </a:pPr>
            <a:r>
              <a:t>📖 数据目录（Data Catalog）— 贯穿全平台的数据资产基座：技术元数据 → 业务语义 → 智能治理 → 全景图谱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989320"/>
            <a:ext cx="4206240" cy="41148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1B1B"/>
                </a:solidFill>
                <a:latin typeface="Microsoft YaHei"/>
              </a:defRPr>
            </a:pPr>
            <a:r>
              <a:t>🔒 安全合规保障 — 认证授权 · 数据脱敏 · SQL审查 · 审计日志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989320"/>
            <a:ext cx="4297680" cy="41148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66534"/>
                </a:solidFill>
                <a:latin typeface="Microsoft YaHei"/>
              </a:defRPr>
            </a:pPr>
            <a:r>
              <a:t>📚 知识管理保障 — 元数据采集 · RAG检索 · 反馈闭环 · 知识生命周期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1371600"/>
            <a:ext cx="274320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技术选型</a:t>
            </a:r>
          </a:p>
          <a:p>
            <a:pPr algn="ctr"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前端: React + TypeScript</a:t>
            </a:r>
          </a:p>
          <a:p>
            <a:pPr algn="ctr"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网关: Go (Gin)</a:t>
            </a:r>
          </a:p>
          <a:p>
            <a:pPr algn="ctr"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AI层: Python + LangChain</a:t>
            </a:r>
          </a:p>
          <a:p>
            <a:pPr algn="ctr"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模型: Qwen2.5 / DeepSeek</a:t>
            </a:r>
          </a:p>
          <a:p>
            <a:pPr algn="ctr"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推理: vLLM 加速</a:t>
            </a:r>
          </a:p>
          <a:p>
            <a:pPr algn="ctr"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查询: Trino</a:t>
            </a:r>
          </a:p>
          <a:p>
            <a:pPr algn="ctr"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计算: Spark</a:t>
            </a:r>
          </a:p>
          <a:p>
            <a:pPr algn="ctr"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表格式: Iceberg</a:t>
            </a:r>
          </a:p>
          <a:p>
            <a:pPr algn="ctr"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调度: Airflow</a:t>
            </a:r>
          </a:p>
          <a:p>
            <a:pPr algn="ctr"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向量库: Milvus</a:t>
            </a:r>
          </a:p>
          <a:p>
            <a:pPr algn="ctr"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元数据: PostgreSQL</a:t>
            </a:r>
          </a:p>
          <a:p>
            <a:pPr algn="ctr"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缓存: Redis</a:t>
            </a:r>
          </a:p>
          <a:p>
            <a:pPr algn="ctr"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部署: Kubernetes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数据目录演进路径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909C"/>
                </a:solidFill>
                <a:latin typeface="Microsoft YaHei"/>
              </a:defRPr>
            </a:pPr>
            <a:r>
              <a:t>Data Catalog — 贯穿全平台的数据资产基座，四阶段持续深化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7432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CATALOG L1</a:t>
            </a:r>
            <a:br/>
            <a:r>
              <a:t>技术元数据目录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2026 Q2-Q3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23774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7889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6909C"/>
                </a:solidFill>
                <a:latin typeface="Microsoft YaHei"/>
              </a:defRPr>
            </a:pPr>
            <a:r>
              <a:t>目录内容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175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defRPr sz="1000" b="0">
                <a:solidFill>
                  <a:srgbClr val="4E5969"/>
                </a:solidFill>
                <a:latin typeface="Microsoft YaHei"/>
              </a:defRPr>
            </a:pPr>
            <a:r>
              <a:t>· 表名、字段名、数据类型</a:t>
            </a:r>
          </a:p>
          <a:p>
            <a:pPr>
              <a:spcBef>
                <a:spcPts val="3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分区策略与统计信息</a:t>
            </a:r>
          </a:p>
          <a:p>
            <a:pPr>
              <a:spcBef>
                <a:spcPts val="3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Iceberg Catalog 全量同步</a:t>
            </a:r>
          </a:p>
          <a:p>
            <a:pPr>
              <a:spcBef>
                <a:spcPts val="3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表间关系（外键、Join模式）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23774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846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6909C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120640"/>
            <a:ext cx="114300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B82F6"/>
                </a:solidFill>
                <a:latin typeface="Microsoft YaHei"/>
              </a:defRPr>
            </a:pPr>
            <a:r>
              <a:t>表结构浏览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5120640"/>
            <a:ext cx="114300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B82F6"/>
                </a:solidFill>
                <a:latin typeface="Microsoft YaHei"/>
              </a:defRPr>
            </a:pPr>
            <a:r>
              <a:t>语义搜索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486400"/>
            <a:ext cx="114300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B82F6"/>
                </a:solidFill>
                <a:latin typeface="Microsoft YaHei"/>
              </a:defRPr>
            </a:pPr>
            <a:r>
              <a:t>元数据API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035808" y="3931920"/>
            <a:ext cx="128016" cy="274320"/>
          </a:xfrm>
          <a:prstGeom prst="rightArrow">
            <a:avLst/>
          </a:prstGeom>
          <a:solidFill>
            <a:srgbClr val="86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0" y="1645920"/>
            <a:ext cx="27432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783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Microsoft YaHei"/>
              </a:defRPr>
            </a:pPr>
            <a:r>
              <a:t>CATALOG L2</a:t>
            </a:r>
            <a:br/>
            <a:r>
              <a:t>业务语义目录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2026 Q4-2027 Q1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2697480"/>
            <a:ext cx="23774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7889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6909C"/>
                </a:solidFill>
                <a:latin typeface="Microsoft YaHei"/>
              </a:defRPr>
            </a:pPr>
            <a:r>
              <a:t>目录内容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0175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defRPr sz="1000" b="0">
                <a:solidFill>
                  <a:srgbClr val="4E5969"/>
                </a:solidFill>
                <a:latin typeface="Microsoft YaHei"/>
              </a:defRPr>
            </a:pPr>
            <a:r>
              <a:t>· 业务术语与字段语义映射</a:t>
            </a:r>
          </a:p>
          <a:p>
            <a:pPr>
              <a:spcBef>
                <a:spcPts val="3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指标定义与计算口径</a:t>
            </a:r>
          </a:p>
          <a:p>
            <a:pPr>
              <a:spcBef>
                <a:spcPts val="3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查询热度与使用频率统计</a:t>
            </a:r>
          </a:p>
          <a:p>
            <a:pPr>
              <a:spcBef>
                <a:spcPts val="3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常用查询模式沉淀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754880"/>
            <a:ext cx="23774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4846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6909C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5120640"/>
            <a:ext cx="114300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C3AED"/>
                </a:solidFill>
                <a:latin typeface="Microsoft YaHei"/>
              </a:defRPr>
            </a:pPr>
            <a:r>
              <a:t>自然语言搜表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5120640"/>
            <a:ext cx="114300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C3AED"/>
                </a:solidFill>
                <a:latin typeface="Microsoft YaHei"/>
              </a:defRPr>
            </a:pPr>
            <a:r>
              <a:t>指标地图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5486400"/>
            <a:ext cx="114300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7C3AED"/>
                </a:solidFill>
                <a:latin typeface="Microsoft YaHei"/>
              </a:defRPr>
            </a:pPr>
            <a:r>
              <a:t>使用推荐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61888" y="3931920"/>
            <a:ext cx="128016" cy="274320"/>
          </a:xfrm>
          <a:prstGeom prst="rightArrow">
            <a:avLst/>
          </a:prstGeom>
          <a:solidFill>
            <a:srgbClr val="86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26480" y="1645920"/>
            <a:ext cx="27432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1645920"/>
            <a:ext cx="27432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783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  <a:latin typeface="Microsoft YaHei"/>
              </a:defRPr>
            </a:pPr>
            <a:r>
              <a:t>CATALOG L3</a:t>
            </a:r>
            <a:br/>
            <a:r>
              <a:t>智能治理目录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2027 Q1-Q2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697480"/>
            <a:ext cx="23774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27889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6909C"/>
                </a:solidFill>
                <a:latin typeface="Microsoft YaHei"/>
              </a:defRPr>
            </a:pPr>
            <a:r>
              <a:t>目录内容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0175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defRPr sz="1000" b="0">
                <a:solidFill>
                  <a:srgbClr val="4E5969"/>
                </a:solidFill>
                <a:latin typeface="Microsoft YaHei"/>
              </a:defRPr>
            </a:pPr>
            <a:r>
              <a:t>· 字段级血缘关系</a:t>
            </a:r>
          </a:p>
          <a:p>
            <a:pPr>
              <a:spcBef>
                <a:spcPts val="3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敏感级别自动标注</a:t>
            </a:r>
          </a:p>
          <a:p>
            <a:pPr>
              <a:spcBef>
                <a:spcPts val="3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数据质量评分与历史趋势</a:t>
            </a:r>
          </a:p>
          <a:p>
            <a:pPr>
              <a:spcBef>
                <a:spcPts val="3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数据Owner与责任矩阵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754880"/>
            <a:ext cx="23774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846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6909C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120640"/>
            <a:ext cx="114300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59669"/>
                </a:solidFill>
                <a:latin typeface="Microsoft YaHei"/>
              </a:defRPr>
            </a:pPr>
            <a:r>
              <a:t>血缘图谱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0" y="5120640"/>
            <a:ext cx="114300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59669"/>
                </a:solidFill>
                <a:latin typeface="Microsoft YaHei"/>
              </a:defRPr>
            </a:pPr>
            <a:r>
              <a:t>敏感标记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486400"/>
            <a:ext cx="114300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59669"/>
                </a:solidFill>
                <a:latin typeface="Microsoft YaHei"/>
              </a:defRPr>
            </a:pPr>
            <a:r>
              <a:t>质量评分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8887968" y="3931920"/>
            <a:ext cx="128016" cy="274320"/>
          </a:xfrm>
          <a:prstGeom prst="rightArrow">
            <a:avLst/>
          </a:prstGeom>
          <a:solidFill>
            <a:srgbClr val="86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52560" y="1645920"/>
            <a:ext cx="27432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52560" y="1645920"/>
            <a:ext cx="27432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1783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97706"/>
                </a:solidFill>
                <a:latin typeface="Microsoft YaHei"/>
              </a:defRPr>
            </a:pPr>
            <a:r>
              <a:t>CATALOG L4</a:t>
            </a:r>
            <a:br/>
            <a:r>
              <a:t>全景数据图谱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2027 Q2-Q3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2697480"/>
            <a:ext cx="23774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27889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6909C"/>
                </a:solidFill>
                <a:latin typeface="Microsoft YaHei"/>
              </a:defRPr>
            </a:pPr>
            <a:r>
              <a:t>目录内容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30175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defRPr sz="1000" b="0">
                <a:solidFill>
                  <a:srgbClr val="4E5969"/>
                </a:solidFill>
                <a:latin typeface="Microsoft YaHei"/>
              </a:defRPr>
            </a:pPr>
            <a:r>
              <a:t>· ETL管道与数据流关联映射</a:t>
            </a:r>
          </a:p>
          <a:p>
            <a:pPr>
              <a:spcBef>
                <a:spcPts val="3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数据新鲜度与更新频率</a:t>
            </a:r>
          </a:p>
          <a:p>
            <a:pPr>
              <a:spcBef>
                <a:spcPts val="3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端到端链路健康状态</a:t>
            </a:r>
          </a:p>
          <a:p>
            <a:pPr>
              <a:spcBef>
                <a:spcPts val="3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数据价值评估与成本归属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35440" y="4754880"/>
            <a:ext cx="23774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20" y="4846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6909C"/>
                </a:solidFill>
                <a:latin typeface="Microsoft YaHei"/>
              </a:defRPr>
            </a:pPr>
            <a:r>
              <a:t>核心能力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89720" y="5120640"/>
            <a:ext cx="114300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D97706"/>
                </a:solidFill>
                <a:latin typeface="Microsoft YaHei"/>
              </a:defRPr>
            </a:pPr>
            <a:r>
              <a:t>链路追踪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24160" y="5120640"/>
            <a:ext cx="114300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D97706"/>
                </a:solidFill>
                <a:latin typeface="Microsoft YaHei"/>
              </a:defRPr>
            </a:pPr>
            <a:r>
              <a:t>健康仪表盘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89720" y="5486400"/>
            <a:ext cx="1143000" cy="274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D97706"/>
                </a:solidFill>
                <a:latin typeface="Microsoft YaHei"/>
              </a:defRPr>
            </a:pPr>
            <a:r>
              <a:t>价值评估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第一年演进路线（2026.04 — 2027.03）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909C"/>
                </a:solidFill>
                <a:latin typeface="Microsoft YaHei"/>
              </a:defRPr>
            </a:pPr>
            <a:r>
              <a:t>四阶段递进式建设，每阶段在前一阶段基础上展开</a:t>
            </a:r>
          </a:p>
        </p:txBody>
      </p:sp>
      <p:sp>
        <p:nvSpPr>
          <p:cNvPr id="5" name="Oval 4"/>
          <p:cNvSpPr/>
          <p:nvPr/>
        </p:nvSpPr>
        <p:spPr>
          <a:xfrm>
            <a:off x="1554480" y="141732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1490472"/>
            <a:ext cx="256032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737360"/>
            <a:ext cx="2743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1773936"/>
            <a:ext cx="2670048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第一阶段 · 智能SQL开发中心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2026 Q2-Q3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5176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000" b="0">
                <a:solidFill>
                  <a:srgbClr val="4E5969"/>
                </a:solidFill>
                <a:latin typeface="Microsoft YaHei"/>
              </a:defRPr>
            </a:pPr>
            <a:r>
              <a:t>· 平台基础架构搭建与部署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Agent框架与工具协议定义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NL2SQL核心能力开发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SQL安全审查引擎</a:t>
            </a:r>
          </a:p>
          <a:p>
            <a:pPr>
              <a:spcBef>
                <a:spcPts val="400"/>
              </a:spcBef>
              <a:defRPr sz="1000" b="1">
                <a:solidFill>
                  <a:srgbClr val="3B82F6"/>
                </a:solidFill>
                <a:latin typeface="Microsoft YaHei"/>
              </a:defRPr>
            </a:pPr>
            <a:r>
              <a:t>· 📖 技术元数据目录（L1）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表结构采集 · 语义搜索 · 元数据API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1417320"/>
            <a:ext cx="182880" cy="1828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490472"/>
            <a:ext cx="256032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1737360"/>
            <a:ext cx="2743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36976" y="1773936"/>
            <a:ext cx="2670048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第二阶段 · 智能分析中心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317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2026 Q4-2027 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65176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000" b="0">
                <a:solidFill>
                  <a:srgbClr val="4E5969"/>
                </a:solidFill>
                <a:latin typeface="Microsoft YaHei"/>
              </a:defRPr>
            </a:pPr>
            <a:r>
              <a:t>· 多轮对话式数据探索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智能可视化推荐引擎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洞察自动发现引擎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分析报告自动生成</a:t>
            </a:r>
          </a:p>
          <a:p>
            <a:pPr>
              <a:spcBef>
                <a:spcPts val="400"/>
              </a:spcBef>
              <a:defRPr sz="1000" b="1">
                <a:solidFill>
                  <a:srgbClr val="7C3AED"/>
                </a:solidFill>
                <a:latin typeface="Microsoft YaHei"/>
              </a:defRPr>
            </a:pPr>
            <a:r>
              <a:t>· 📖 业务语义目录（L2）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业务术语映射 · 指标地图 · 自然语言搜表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0" y="1417320"/>
            <a:ext cx="182880" cy="1828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490472"/>
            <a:ext cx="256032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1737360"/>
            <a:ext cx="2743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6" y="1773936"/>
            <a:ext cx="2670048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第三阶段 · 数据治理中心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317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2027 Q1-Q2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5176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000" b="0">
                <a:solidFill>
                  <a:srgbClr val="4E5969"/>
                </a:solidFill>
                <a:latin typeface="Microsoft YaHei"/>
              </a:defRPr>
            </a:pPr>
            <a:r>
              <a:t>· 自动化血缘图谱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数据质量智能监控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敏感数据智能识别</a:t>
            </a:r>
          </a:p>
          <a:p>
            <a:pPr>
              <a:spcBef>
                <a:spcPts val="400"/>
              </a:spcBef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· 📖 智能治理目录（L3）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血缘图谱 · 敏感标记 · 质量评分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核心数据域治理体系验证</a:t>
            </a:r>
          </a:p>
        </p:txBody>
      </p:sp>
      <p:sp>
        <p:nvSpPr>
          <p:cNvPr id="23" name="Oval 22"/>
          <p:cNvSpPr/>
          <p:nvPr/>
        </p:nvSpPr>
        <p:spPr>
          <a:xfrm>
            <a:off x="10332720" y="1417320"/>
            <a:ext cx="182880" cy="1828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52560" y="1737360"/>
            <a:ext cx="27432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89136" y="1773936"/>
            <a:ext cx="2670048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第四阶段 · 管道编排中心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3317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2027 Q2-Q3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65176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000" b="0">
                <a:solidFill>
                  <a:srgbClr val="4E5969"/>
                </a:solidFill>
                <a:latin typeface="Microsoft YaHei"/>
              </a:defRPr>
            </a:pPr>
            <a:r>
              <a:t>· 自然语言驱动管道设计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Spark作业 + Airflow DAG自动生成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智能调度优化引擎</a:t>
            </a:r>
          </a:p>
          <a:p>
            <a:pPr>
              <a:spcBef>
                <a:spcPts val="400"/>
              </a:spcBef>
              <a:defRPr sz="1000" b="1">
                <a:solidFill>
                  <a:srgbClr val="D97706"/>
                </a:solidFill>
                <a:latin typeface="Microsoft YaHei"/>
              </a:defRPr>
            </a:pPr>
            <a:r>
              <a:t>· 📖 全景数据图谱（L4）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链路追踪 · 健康仪表盘 · 价值评估</a:t>
            </a:r>
          </a:p>
          <a:p>
            <a:pPr>
              <a:spcBef>
                <a:spcPts val="400"/>
              </a:spcBef>
              <a:defRPr sz="1000">
                <a:solidFill>
                  <a:srgbClr val="4E5969"/>
                </a:solidFill>
                <a:latin typeface="Microsoft YaHei"/>
              </a:defRPr>
            </a:pPr>
            <a:r>
              <a:t>· 全链路可观测与智能诊断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第二年演进路线（2027.04 — 2028.03）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909C"/>
                </a:solidFill>
                <a:latin typeface="Microsoft YaHei"/>
              </a:defRPr>
            </a:pPr>
            <a:r>
              <a:t>完成管道编排建设，进入全面深化与规模化推广阶段</a:t>
            </a:r>
          </a:p>
        </p:txBody>
      </p:sp>
      <p:sp>
        <p:nvSpPr>
          <p:cNvPr id="5" name="Oval 4"/>
          <p:cNvSpPr/>
          <p:nvPr/>
        </p:nvSpPr>
        <p:spPr>
          <a:xfrm>
            <a:off x="2011680" y="1417320"/>
            <a:ext cx="182880" cy="1828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4560" y="1490472"/>
            <a:ext cx="36576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737360"/>
            <a:ext cx="3657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1773936"/>
            <a:ext cx="3584448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第四阶段 · 管道编排交付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2027 Q2-Q3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517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· 自然语言驱动管道设计</a:t>
            </a:r>
          </a:p>
          <a:p>
            <a:pPr>
              <a:spcBef>
                <a:spcPts val="400"/>
              </a:spcBef>
              <a:defRPr sz="1100">
                <a:solidFill>
                  <a:srgbClr val="4E5969"/>
                </a:solidFill>
                <a:latin typeface="Microsoft YaHei"/>
              </a:defRPr>
            </a:pPr>
            <a:r>
              <a:t>· Spark作业 + Airflow DAG自动生成</a:t>
            </a:r>
          </a:p>
          <a:p>
            <a:pPr>
              <a:spcBef>
                <a:spcPts val="400"/>
              </a:spcBef>
              <a:defRPr sz="1100">
                <a:solidFill>
                  <a:srgbClr val="4E5969"/>
                </a:solidFill>
                <a:latin typeface="Microsoft YaHei"/>
              </a:defRPr>
            </a:pPr>
            <a:r>
              <a:t>· 智能调度优化引擎</a:t>
            </a:r>
          </a:p>
          <a:p>
            <a:pPr>
              <a:spcBef>
                <a:spcPts val="400"/>
              </a:spcBef>
              <a:defRPr sz="1100">
                <a:solidFill>
                  <a:srgbClr val="4E5969"/>
                </a:solidFill>
                <a:latin typeface="Microsoft YaHei"/>
              </a:defRPr>
            </a:pPr>
            <a:r>
              <a:t>· 全链路可观测与智能诊断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  <a:latin typeface="Microsoft YaHei"/>
              </a:defRPr>
            </a:pPr>
            <a:r>
              <a:t>· 📖 全景数据图谱上线</a:t>
            </a:r>
          </a:p>
          <a:p>
            <a:pPr>
              <a:spcBef>
                <a:spcPts val="400"/>
              </a:spcBef>
              <a:defRPr sz="1100">
                <a:solidFill>
                  <a:srgbClr val="4E5969"/>
                </a:solidFill>
                <a:latin typeface="Microsoft YaHei"/>
              </a:defRPr>
            </a:pPr>
            <a:r>
              <a:t>· 四大中心完整闭环发布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0" y="1417320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490472"/>
            <a:ext cx="36576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0" y="1737360"/>
            <a:ext cx="3657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51376" y="1773936"/>
            <a:ext cx="3584448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深化优化 · 智能增强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3317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2027 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6517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· 基于用户反馈的模型持续优化</a:t>
            </a:r>
          </a:p>
          <a:p>
            <a:pPr>
              <a:spcBef>
                <a:spcPts val="400"/>
              </a:spcBef>
              <a:defRPr sz="1100">
                <a:solidFill>
                  <a:srgbClr val="4E5969"/>
                </a:solidFill>
                <a:latin typeface="Microsoft YaHei"/>
              </a:defRPr>
            </a:pPr>
            <a:r>
              <a:t>· 跨Agent复杂任务协同增强</a:t>
            </a:r>
          </a:p>
          <a:p>
            <a:pPr>
              <a:spcBef>
                <a:spcPts val="400"/>
              </a:spcBef>
              <a:defRPr sz="1100">
                <a:solidFill>
                  <a:srgbClr val="4E5969"/>
                </a:solidFill>
                <a:latin typeface="Microsoft YaHei"/>
              </a:defRPr>
            </a:pPr>
            <a:r>
              <a:t>· 知识图谱深化建设</a:t>
            </a:r>
          </a:p>
          <a:p>
            <a:pPr>
              <a:spcBef>
                <a:spcPts val="400"/>
              </a:spcBef>
              <a:defRPr sz="1100">
                <a:solidFill>
                  <a:srgbClr val="4E5969"/>
                </a:solidFill>
                <a:latin typeface="Microsoft YaHei"/>
              </a:defRPr>
            </a:pPr>
            <a:r>
              <a:t>· 性能与稳定性全面调优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0" y="1417320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80" y="1737360"/>
            <a:ext cx="36576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1773936"/>
            <a:ext cx="3584448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规模化推广 · 生态扩展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3317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2028 Q1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6517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100" b="0">
                <a:solidFill>
                  <a:srgbClr val="4E5969"/>
                </a:solidFill>
                <a:latin typeface="Microsoft YaHei"/>
              </a:defRPr>
            </a:pPr>
            <a:r>
              <a:t>· 全企业范围推广覆盖</a:t>
            </a:r>
          </a:p>
          <a:p>
            <a:pPr>
              <a:spcBef>
                <a:spcPts val="400"/>
              </a:spcBef>
              <a:defRPr sz="1100">
                <a:solidFill>
                  <a:srgbClr val="4E5969"/>
                </a:solidFill>
                <a:latin typeface="Microsoft YaHei"/>
              </a:defRPr>
            </a:pPr>
            <a:r>
              <a:t>· 开放工具生态接入</a:t>
            </a:r>
          </a:p>
          <a:p>
            <a:pPr>
              <a:spcBef>
                <a:spcPts val="400"/>
              </a:spcBef>
              <a:defRPr sz="1100">
                <a:solidFill>
                  <a:srgbClr val="4E5969"/>
                </a:solidFill>
                <a:latin typeface="Microsoft YaHei"/>
              </a:defRPr>
            </a:pPr>
            <a:r>
              <a:t>· 行业场景适配与定制</a:t>
            </a:r>
          </a:p>
          <a:p>
            <a:pPr>
              <a:spcBef>
                <a:spcPts val="400"/>
              </a:spcBef>
              <a:defRPr sz="1100">
                <a:solidFill>
                  <a:srgbClr val="4E5969"/>
                </a:solidFill>
                <a:latin typeface="Microsoft YaHei"/>
              </a:defRPr>
            </a:pPr>
            <a:r>
              <a:t>· 平台运营指标全面达标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关键里程碑总览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909C"/>
                </a:solidFill>
                <a:latin typeface="Microsoft YaHei"/>
              </a:defRPr>
            </a:pPr>
            <a:r>
              <a:t>19个关键里程碑，每个对应明确的交付物和验收标准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编号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371600"/>
            <a:ext cx="13716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时间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371600"/>
            <a:ext cx="155448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里程碑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13716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阶段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371600"/>
            <a:ext cx="41148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核心交付物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822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1691640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2026.05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691640"/>
            <a:ext cx="1554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架构搭建完成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691640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3B82F6"/>
                </a:solidFill>
                <a:latin typeface="Microsoft YaHei"/>
              </a:defRPr>
            </a:pPr>
            <a:r>
              <a:t>第一阶段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691640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基础架构就绪，Agent框架、工具协议、前后端骨架可运行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38528"/>
            <a:ext cx="82296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M1.5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1938528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2026.06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938528"/>
            <a:ext cx="155448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技术元数据目录上线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938528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0EA5E9"/>
                </a:solidFill>
                <a:latin typeface="Microsoft YaHei"/>
              </a:defRPr>
            </a:pPr>
            <a:r>
              <a:t>数据目录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938528"/>
            <a:ext cx="41148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Iceberg Catalog全量同步，语义搜索、元数据API可用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185416"/>
            <a:ext cx="822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2185416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2026.07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2185416"/>
            <a:ext cx="1554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核心能力可用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185416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3B82F6"/>
                </a:solidFill>
                <a:latin typeface="Microsoft YaHei"/>
              </a:defRPr>
            </a:pPr>
            <a:r>
              <a:t>第一阶段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2185416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NL2SQL、SQL执行、安全审查功能上线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32304"/>
            <a:ext cx="82296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2432304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2026.08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432304"/>
            <a:ext cx="155448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灰度试用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432304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3B82F6"/>
                </a:solidFill>
                <a:latin typeface="Microsoft YaHei"/>
              </a:defRPr>
            </a:pPr>
            <a:r>
              <a:t>第一阶段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432304"/>
            <a:ext cx="41148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1-2个业务域灰度试用，收集反馈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79192"/>
            <a:ext cx="822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2679192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2026.09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2679192"/>
            <a:ext cx="1554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SQL中心正式发布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2679192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3B82F6"/>
                </a:solidFill>
                <a:latin typeface="Microsoft YaHei"/>
              </a:defRPr>
            </a:pPr>
            <a:r>
              <a:t>第一阶段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2679192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覆盖数据团队日常80%查询需求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926080"/>
            <a:ext cx="82296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0" y="2926080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2026.09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2926080"/>
            <a:ext cx="155448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分析能力上线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2926080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7C3AED"/>
                </a:solidFill>
                <a:latin typeface="Microsoft YaHei"/>
              </a:defRPr>
            </a:pPr>
            <a:r>
              <a:t>第二阶段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2926080"/>
            <a:ext cx="41148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多轮对话探索、智能可视化功能上线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172968"/>
            <a:ext cx="822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0160" y="3172968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2026.10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3172968"/>
            <a:ext cx="1554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洞察引擎上线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3172968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7C3AED"/>
                </a:solidFill>
                <a:latin typeface="Microsoft YaHei"/>
              </a:defRPr>
            </a:pPr>
            <a:r>
              <a:t>第二阶段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2160" y="3172968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自动洞察发现、分析报告生成功能上线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419856"/>
            <a:ext cx="82296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80160" y="3419856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2026.12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3419856"/>
            <a:ext cx="155448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业务分析试点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3419856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7C3AED"/>
                </a:solidFill>
                <a:latin typeface="Microsoft YaHei"/>
              </a:defRPr>
            </a:pPr>
            <a:r>
              <a:t>第二阶段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3419856"/>
            <a:ext cx="41148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2-3个业务线完成分析自助化试点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666744"/>
            <a:ext cx="822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80160" y="3666744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2027.01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3666744"/>
            <a:ext cx="1554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分析中心正式发布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3666744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7C3AED"/>
                </a:solidFill>
                <a:latin typeface="Microsoft YaHei"/>
              </a:defRPr>
            </a:pPr>
            <a:r>
              <a:t>第二阶段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52160" y="3666744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业务自助分析占比 ≥ 60%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913632"/>
            <a:ext cx="82296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M8.5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80160" y="3913632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2027.01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3913632"/>
            <a:ext cx="155448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业务语义目录上线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3913632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0EA5E9"/>
                </a:solidFill>
                <a:latin typeface="Microsoft YaHei"/>
              </a:defRPr>
            </a:pPr>
            <a:r>
              <a:t>数据目录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52160" y="3913632"/>
            <a:ext cx="41148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业务术语映射、指标地图、自然语言搜表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160520"/>
            <a:ext cx="822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80160" y="4160520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2027.02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0" y="4160520"/>
            <a:ext cx="1554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智能治理目录上线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89120" y="4160520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0EA5E9"/>
                </a:solidFill>
                <a:latin typeface="Microsoft YaHei"/>
              </a:defRPr>
            </a:pPr>
            <a:r>
              <a:t>数据目录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52160" y="4160520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血缘图谱、敏感标记、质量评分融合至目录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407408"/>
            <a:ext cx="82296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80160" y="4407408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2027.02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0" y="4407408"/>
            <a:ext cx="155448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质量与安全上线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89120" y="4407408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059669"/>
                </a:solidFill>
                <a:latin typeface="Microsoft YaHei"/>
              </a:defRPr>
            </a:pPr>
            <a:r>
              <a:t>第三阶段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52160" y="4407408"/>
            <a:ext cx="41148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数据质量监控和敏感数据识别功能上线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654296"/>
            <a:ext cx="822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80160" y="4654296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2027.03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0" y="4654296"/>
            <a:ext cx="1554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治理体系验证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0" y="4654296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059669"/>
                </a:solidFill>
                <a:latin typeface="Microsoft YaHei"/>
              </a:defRPr>
            </a:pPr>
            <a:r>
              <a:t>第三阶段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52160" y="4654296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核心数据域治理体系完整验证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901184"/>
            <a:ext cx="82296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280160" y="4901184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2027.04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0" y="4901184"/>
            <a:ext cx="155448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治理中心正式发布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89120" y="4901184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059669"/>
                </a:solidFill>
                <a:latin typeface="Microsoft YaHei"/>
              </a:defRPr>
            </a:pPr>
            <a:r>
              <a:t>第三阶段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852160" y="4901184"/>
            <a:ext cx="41148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核心数据资产100%入目入册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5148072"/>
            <a:ext cx="822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M13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280160" y="5148072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2027.04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5148072"/>
            <a:ext cx="1554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管道设计上线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89120" y="5148072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D97706"/>
                </a:solidFill>
                <a:latin typeface="Microsoft YaHei"/>
              </a:defRPr>
            </a:pPr>
            <a:r>
              <a:t>第四阶段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52160" y="5148072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自然语言驱动管道设计功能上线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5394960"/>
            <a:ext cx="82296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M13.5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80160" y="5394960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2027.05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0" y="5394960"/>
            <a:ext cx="155448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全景数据图谱上线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389120" y="5394960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0EA5E9"/>
                </a:solidFill>
                <a:latin typeface="Microsoft YaHei"/>
              </a:defRPr>
            </a:pPr>
            <a:r>
              <a:t>数据目录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852160" y="5394960"/>
            <a:ext cx="41148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端到端链路追踪、健康仪表盘上线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5641848"/>
            <a:ext cx="822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M14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280160" y="5641848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2027.06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0" y="5641848"/>
            <a:ext cx="1554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调度与监控上线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89120" y="5641848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D97706"/>
                </a:solidFill>
                <a:latin typeface="Microsoft YaHei"/>
              </a:defRPr>
            </a:pPr>
            <a:r>
              <a:t>第四阶段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52160" y="5641848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智能调度优化和全链路可观测上线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888736"/>
            <a:ext cx="82296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280160" y="5888736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2027.08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0" y="5888736"/>
            <a:ext cx="155448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端到端验证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89120" y="5888736"/>
            <a:ext cx="13716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D97706"/>
                </a:solidFill>
                <a:latin typeface="Microsoft YaHei"/>
              </a:defRPr>
            </a:pPr>
            <a:r>
              <a:t>第四阶段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852160" y="5888736"/>
            <a:ext cx="4114800" cy="2468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从需求到产出的端到端流程验证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6135624"/>
            <a:ext cx="82296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M16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280160" y="6135624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2027.09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0" y="6135624"/>
            <a:ext cx="15544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平台完整闭环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389120" y="6135624"/>
            <a:ext cx="13716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1">
                <a:solidFill>
                  <a:srgbClr val="D97706"/>
                </a:solidFill>
                <a:latin typeface="Microsoft YaHei"/>
              </a:defRPr>
            </a:pPr>
            <a:r>
              <a:t>第四阶段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52160" y="6135624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850" b="0">
                <a:solidFill>
                  <a:srgbClr val="4E5969"/>
                </a:solidFill>
                <a:latin typeface="Microsoft YaHei"/>
              </a:defRPr>
            </a:pPr>
            <a:r>
              <a:t>四大中心完整闭环，全面发布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关键成功指标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6909C"/>
                </a:solidFill>
                <a:latin typeface="Microsoft YaHei"/>
              </a:defRPr>
            </a:pPr>
            <a:r>
              <a:t>可量化、可度量、可考核的年度目标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909C"/>
                </a:solidFill>
                <a:latin typeface="Microsoft YaHei"/>
              </a:defRPr>
            </a:pPr>
            <a:r>
              <a:t>NL2SQL 准确率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Microsoft YaHei"/>
              </a:defRPr>
            </a:pPr>
            <a:r>
              <a:t>≥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标准测试集 + 线上抽样评估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2377440" cy="10972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2139696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155448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55448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909C"/>
                </a:solidFill>
                <a:latin typeface="Microsoft YaHei"/>
              </a:defRPr>
            </a:pPr>
            <a:r>
              <a:t>业务自助分析占比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  <a:latin typeface="Microsoft YaHei"/>
              </a:defRPr>
            </a:pPr>
            <a:r>
              <a:t>≥ 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业务侧自行完成的分析需求占比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200400"/>
            <a:ext cx="2377440" cy="10972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3280" y="3200400"/>
            <a:ext cx="1426464" cy="1097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155448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554480"/>
            <a:ext cx="27432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909C"/>
                </a:solidFill>
                <a:latin typeface="Microsoft YaHei"/>
              </a:defRPr>
            </a:pPr>
            <a:r>
              <a:t>核心资产血缘覆盖率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59669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纳入血缘追踪的核心数据表占比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200400"/>
            <a:ext cx="2377440" cy="10972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3200400"/>
            <a:ext cx="2377440" cy="10972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52560" y="155448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0" y="1554480"/>
            <a:ext cx="27432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909C"/>
                </a:solidFill>
                <a:latin typeface="Microsoft YaHei"/>
              </a:defRPr>
            </a:pPr>
            <a:r>
              <a:t>数据管道开发效率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97706"/>
                </a:solidFill>
                <a:latin typeface="Microsoft YaHei"/>
              </a:defRPr>
            </a:pPr>
            <a:r>
              <a:t>5x 提升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606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同等复杂度管道的开发工时对比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200400"/>
            <a:ext cx="2377440" cy="10972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35440" y="3200400"/>
            <a:ext cx="1901952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4320" y="411480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114800"/>
            <a:ext cx="27432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909C"/>
                </a:solidFill>
                <a:latin typeface="Microsoft YaHei"/>
              </a:defRPr>
            </a:pPr>
            <a:r>
              <a:t>需求交付周期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Microsoft YaHei"/>
              </a:defRPr>
            </a:pPr>
            <a:r>
              <a:t>天 → 小时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从需求提出到结果交付的平均时长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760720"/>
            <a:ext cx="2377440" cy="10972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5760720"/>
            <a:ext cx="1783080" cy="1097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200400" y="411480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4114800"/>
            <a:ext cx="2743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909C"/>
                </a:solidFill>
                <a:latin typeface="Microsoft YaHei"/>
              </a:defRPr>
            </a:pPr>
            <a:r>
              <a:t>用户满意度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46E5"/>
                </a:solidFill>
                <a:latin typeface="Microsoft YaHei"/>
              </a:defRPr>
            </a:pPr>
            <a:r>
              <a:t>≥ 4.2 / 5.0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季度满意度调研评分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83280" y="5760720"/>
            <a:ext cx="2377440" cy="10972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383280" y="5760720"/>
            <a:ext cx="1997049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26480" y="411480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26480" y="4114800"/>
            <a:ext cx="27432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909C"/>
                </a:solidFill>
                <a:latin typeface="Microsoft YaHei"/>
              </a:defRPr>
            </a:pPr>
            <a:r>
              <a:t>数据目录资产收录率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EA5E9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核心数据资产纳入目录管理的比例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5760720"/>
            <a:ext cx="2377440" cy="10972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309360" y="5760720"/>
            <a:ext cx="2377440" cy="1097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052560" y="411480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52560" y="4114800"/>
            <a:ext cx="274320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6909C"/>
                </a:solidFill>
                <a:latin typeface="Microsoft YaHei"/>
              </a:defRPr>
            </a:pPr>
            <a:r>
              <a:t>自然语言搜表准确率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4617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≥ 85%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5166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6909C"/>
                </a:solidFill>
                <a:latin typeface="Microsoft YaHei"/>
              </a:defRPr>
            </a:pPr>
            <a:r>
              <a:t>用户用业务语言搜索到正确数据表的命中率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35440" y="5760720"/>
            <a:ext cx="2377440" cy="10972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235440" y="5760720"/>
            <a:ext cx="2020824" cy="10972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DataAgent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YaHei"/>
              </a:defRPr>
            </a:pPr>
            <a:r>
              <a:t>让每个人都拥有自己的数据智能伙伴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393192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2026年4月  |  数据智能平台项目组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